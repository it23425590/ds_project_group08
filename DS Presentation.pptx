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8" r:id="rId4"/>
    <p:sldId id="259" r:id="rId5"/>
    <p:sldId id="260" r:id="rId6"/>
    <p:sldId id="268" r:id="rId7"/>
    <p:sldId id="266" r:id="rId8"/>
    <p:sldId id="273" r:id="rId9"/>
    <p:sldId id="267" r:id="rId10"/>
    <p:sldId id="269" r:id="rId11"/>
    <p:sldId id="263" r:id="rId12"/>
    <p:sldId id="262" r:id="rId13"/>
    <p:sldId id="270" r:id="rId14"/>
    <p:sldId id="271" r:id="rId15"/>
    <p:sldId id="272" r:id="rId16"/>
    <p:sldId id="264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D7320-FD65-A201-9FF6-4311A4CBF5B6}" v="284" dt="2025-04-29T18:27:42.735"/>
    <p1510:client id="{C51AC48C-1BC0-C747-A887-819F7586236E}" v="151" dt="2025-04-29T18:24:52.877"/>
    <p1510:client id="{E1822048-AD0E-358E-A540-5D11F1FC3D1C}" v="89" dt="2025-04-29T17:35:57.724"/>
    <p1510:client id="{FFA3F619-2A1D-2F51-DE2C-5A6CBBF8E2C4}" v="161" dt="2025-04-29T17:34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GB" sz="4800" dirty="0">
                <a:solidFill>
                  <a:srgbClr val="FFFFFF"/>
                </a:solidFill>
              </a:rPr>
              <a:t>Fault-Tolerant Distributed Logging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GB" dirty="0">
                <a:solidFill>
                  <a:srgbClr val="FFFFFF"/>
                </a:solidFill>
              </a:rPr>
              <a:t>Distributed Systems – SE2062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39B431-E6E4-F3A1-BAEA-0E94ED1B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05C3A6-846A-F0CC-733C-BCA5059CD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8F1E9A-3BFB-BCCA-E500-B108299D4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47961E-8C04-E18E-E4A5-A3675520B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DA8D83-BE9B-524D-416C-E221F220A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DA974F-22D9-81D4-75A6-C4AB19013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432360-2935-05EB-BE95-97326422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02F64-C252-3040-5B65-2BB5DB23E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chemeClr val="bg1"/>
                </a:solidFill>
                <a:ea typeface="+mj-lt"/>
                <a:cs typeface="+mj-lt"/>
              </a:rPr>
              <a:t>Log collection and processing in distributed environments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62732-1433-12EA-5BF5-1CAEE1B7C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 lnSpcReduction="10000"/>
          </a:bodyPr>
          <a:lstStyle/>
          <a:p>
            <a:r>
              <a:rPr lang="en-GB" sz="2000" dirty="0">
                <a:latin typeface="Times New Roman"/>
                <a:ea typeface="+mn-lt"/>
                <a:cs typeface="+mn-lt"/>
              </a:rPr>
              <a:t>Logs are critical for 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monitoring, debugging and auditing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in distributed systems.</a:t>
            </a:r>
            <a:endParaRPr lang="en-GB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2000" dirty="0">
              <a:latin typeface="Times New Roman"/>
              <a:ea typeface="+mn-lt"/>
              <a:cs typeface="+mn-lt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Distributed systems generate logs across multiple nodes – needs 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centralized collection and coordination</a:t>
            </a:r>
            <a:r>
              <a:rPr lang="en-GB" sz="2000" dirty="0">
                <a:latin typeface="Times New Roman"/>
                <a:ea typeface="+mn-lt"/>
                <a:cs typeface="+mn-lt"/>
              </a:rPr>
              <a:t>.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2000" dirty="0">
              <a:latin typeface="Times New Roman"/>
              <a:ea typeface="+mn-lt"/>
              <a:cs typeface="+mn-lt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Ensures 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traceability of events</a:t>
            </a:r>
            <a:r>
              <a:rPr lang="en-GB" sz="2000" dirty="0">
                <a:latin typeface="Times New Roman"/>
                <a:ea typeface="+mn-lt"/>
                <a:cs typeface="+mn-lt"/>
              </a:rPr>
              <a:t>, especially when failures or inconsistencies occur.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2000" dirty="0">
              <a:latin typeface="Times New Roman"/>
              <a:ea typeface="+mn-lt"/>
              <a:cs typeface="+mn-lt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Enables 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fault detection, performance tuning </a:t>
            </a:r>
            <a:r>
              <a:rPr lang="en-GB" sz="2000" dirty="0">
                <a:latin typeface="Times New Roman"/>
                <a:ea typeface="+mn-lt"/>
                <a:cs typeface="+mn-lt"/>
              </a:rPr>
              <a:t>and 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security compliance</a:t>
            </a:r>
            <a:r>
              <a:rPr lang="en-GB" sz="2000" dirty="0">
                <a:latin typeface="Times New Roman"/>
                <a:ea typeface="+mn-lt"/>
                <a:cs typeface="+mn-lt"/>
              </a:rPr>
              <a:t>.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2000" dirty="0">
              <a:latin typeface="Times New Roman"/>
              <a:ea typeface="+mn-lt"/>
              <a:cs typeface="+mn-lt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Inconsistencies or lost logs can lead to 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data loss, broken observability </a:t>
            </a:r>
            <a:r>
              <a:rPr lang="en-GB" sz="2000" dirty="0">
                <a:latin typeface="Times New Roman"/>
                <a:ea typeface="+mn-lt"/>
                <a:cs typeface="+mn-lt"/>
              </a:rPr>
              <a:t>or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 undetected failures</a:t>
            </a:r>
            <a:r>
              <a:rPr lang="en-GB" sz="2000" dirty="0">
                <a:latin typeface="Times New Roman"/>
                <a:ea typeface="+mn-lt"/>
                <a:cs typeface="+mn-lt"/>
              </a:rPr>
              <a:t>.</a:t>
            </a:r>
            <a:endParaRPr lang="en-GB" dirty="0">
              <a:latin typeface="Times New Roman"/>
            </a:endParaRP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2716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99F5F-5737-47B4-792A-B59D6B90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System Overview - Architecture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3C7C0-9994-30B9-BC29-7C6E48430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b="1" dirty="0">
                <a:latin typeface="Times New Roman"/>
                <a:ea typeface="+mn-lt"/>
                <a:cs typeface="+mn-lt"/>
              </a:rPr>
              <a:t>Primary Server</a:t>
            </a:r>
            <a:endParaRPr lang="en-GB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Accepts log entries.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Stores in local DB (e.g., SQLite or PostgreSQL).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Performs time synchronization (NTP).</a:t>
            </a:r>
            <a:endParaRPr lang="en-GB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000" b="1" dirty="0">
                <a:latin typeface="Times New Roman"/>
                <a:ea typeface="+mn-lt"/>
                <a:cs typeface="+mn-lt"/>
              </a:rPr>
              <a:t>Backup Servers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Receive replicated logs via HTTP POST.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Maintain copies of logs (eventual consistency).</a:t>
            </a:r>
            <a:endParaRPr lang="en-GB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000" b="1" dirty="0">
                <a:latin typeface="Times New Roman"/>
                <a:ea typeface="+mn-lt"/>
                <a:cs typeface="+mn-lt"/>
              </a:rPr>
              <a:t>Client Interface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UI for log submission (HTML form).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API endpoints for CRUD operations.</a:t>
            </a:r>
            <a:endParaRPr lang="en-GB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000" b="1" dirty="0">
                <a:latin typeface="Times New Roman"/>
                <a:ea typeface="+mn-lt"/>
                <a:cs typeface="+mn-lt"/>
              </a:rPr>
              <a:t>Utils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replication.py</a:t>
            </a:r>
            <a:r>
              <a:rPr lang="en-GB" sz="1800" dirty="0">
                <a:latin typeface="Times New Roman"/>
                <a:ea typeface="+mn-lt"/>
                <a:cs typeface="+mn-lt"/>
              </a:rPr>
              <a:t>: Handles pushing to backups.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ntp_sync.py</a:t>
            </a:r>
            <a:r>
              <a:rPr lang="en-GB" sz="1800" dirty="0">
                <a:latin typeface="Times New Roman"/>
                <a:ea typeface="+mn-lt"/>
                <a:cs typeface="+mn-lt"/>
              </a:rPr>
              <a:t>: Ensures accurate timestamps.</a:t>
            </a:r>
            <a:endParaRPr lang="en-GB" sz="1800" dirty="0">
              <a:latin typeface="Times New Roman"/>
            </a:endParaRP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4822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201B1-B80B-58B2-212D-A1BB890F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Key 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D1B5E-D784-CE3C-B16E-45CDF37F8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 dirty="0">
                <a:latin typeface="Times New Roman"/>
                <a:cs typeface="Times New Roman"/>
              </a:rPr>
              <a:t>Functional Requirements</a:t>
            </a:r>
            <a:endParaRPr lang="en-GB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Log creation, retrieval, updating, deletion.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Replication to multiple backup servers.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NTP time sync to ensure timestamp accuracy.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Duplicate detection (planned).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400" b="1" dirty="0">
                <a:latin typeface="Times New Roman"/>
                <a:cs typeface="Times New Roman"/>
              </a:rPr>
              <a:t>Non-Functional Requirements</a:t>
            </a:r>
            <a:endParaRPr lang="en-GB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High availability and fault tolerance.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Scalability with additional backups.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Fast retrieval with consistent state.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Resilience to partial failures (e.g., one backup fails).</a:t>
            </a:r>
            <a:endParaRPr lang="en-GB" sz="1800" dirty="0">
              <a:latin typeface="Times New Roman"/>
            </a:endParaRP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1232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E6999-2241-349E-9872-C48597C1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Fault Tolerance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D9922-65D0-66E6-42FC-20FAD5FDA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 b="1" dirty="0">
                <a:latin typeface="Times New Roman"/>
                <a:cs typeface="Times New Roman"/>
              </a:rPr>
              <a:t>What is Fault Tolerance?</a:t>
            </a:r>
            <a:endParaRPr lang="en-GB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Ensures system keeps running even if one or more servers fail.</a:t>
            </a:r>
            <a:endParaRPr lang="en-GB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+mn-lt"/>
                <a:cs typeface="+mn-lt"/>
              </a:rPr>
              <a:t>Critical for high availability and data safety in distributed systems.</a:t>
            </a:r>
            <a:endParaRPr lang="en-GB" sz="1800" dirty="0">
              <a:latin typeface="Times New Roman"/>
              <a:cs typeface="Times New Roman"/>
            </a:endParaRPr>
          </a:p>
          <a:p>
            <a:endParaRPr lang="en-GB" sz="15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400" b="1" dirty="0">
                <a:latin typeface="Times New Roman"/>
                <a:cs typeface="Times New Roman"/>
              </a:rPr>
              <a:t>Key Mechanisms Used</a:t>
            </a:r>
            <a:endParaRPr lang="en-GB" sz="2400" dirty="0">
              <a:latin typeface="Times New Roman"/>
              <a:cs typeface="Times New Roman"/>
            </a:endParaRPr>
          </a:p>
          <a:p>
            <a:pPr lvl="1"/>
            <a:r>
              <a:rPr lang="en-GB" sz="1800" b="1" dirty="0">
                <a:latin typeface="Times New Roman"/>
                <a:ea typeface="+mn-lt"/>
                <a:cs typeface="+mn-lt"/>
              </a:rPr>
              <a:t>Log Redundancy</a:t>
            </a:r>
            <a:endParaRPr lang="en-GB" sz="1800" dirty="0">
              <a:latin typeface="Times New Roman"/>
              <a:cs typeface="Times New Roman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sz="1800" dirty="0">
                <a:latin typeface="Times New Roman"/>
                <a:ea typeface="+mn-lt"/>
                <a:cs typeface="+mn-lt"/>
              </a:rPr>
              <a:t>Logs are stored on the primary server and replicated to backup servers.</a:t>
            </a:r>
            <a:endParaRPr lang="en-GB" sz="1800">
              <a:latin typeface="Times New Roman"/>
              <a:cs typeface="Times New Roman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sz="1800" dirty="0">
                <a:latin typeface="Times New Roman"/>
                <a:ea typeface="+mn-lt"/>
                <a:cs typeface="+mn-lt"/>
              </a:rPr>
              <a:t>Prevents data loss during failures</a:t>
            </a:r>
            <a:r>
              <a:rPr lang="en-GB" sz="1500" dirty="0">
                <a:latin typeface="Times New Roman"/>
                <a:ea typeface="+mn-lt"/>
                <a:cs typeface="+mn-lt"/>
              </a:rPr>
              <a:t>.</a:t>
            </a:r>
            <a:endParaRPr lang="en-GB" sz="1500" dirty="0">
              <a:latin typeface="Times New Roman"/>
              <a:cs typeface="Times New Roman"/>
            </a:endParaRPr>
          </a:p>
          <a:p>
            <a:pPr lvl="1"/>
            <a:r>
              <a:rPr lang="en-GB" sz="1800" b="1" dirty="0">
                <a:latin typeface="Times New Roman"/>
                <a:ea typeface="+mn-lt"/>
                <a:cs typeface="+mn-lt"/>
              </a:rPr>
              <a:t>Failover Mechanism</a:t>
            </a:r>
            <a:endParaRPr lang="en-GB" sz="1800" dirty="0">
              <a:latin typeface="Times New Roman"/>
              <a:cs typeface="Times New Roman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sz="1800" dirty="0">
                <a:latin typeface="Times New Roman"/>
                <a:ea typeface="+mn-lt"/>
                <a:cs typeface="+mn-lt"/>
              </a:rPr>
              <a:t>System automatically switches to a backup server if the primary fails.</a:t>
            </a:r>
            <a:endParaRPr lang="en-GB" sz="1800">
              <a:latin typeface="Times New Roman"/>
              <a:cs typeface="Times New Roman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sz="1800" dirty="0">
                <a:latin typeface="Times New Roman"/>
                <a:ea typeface="+mn-lt"/>
                <a:cs typeface="+mn-lt"/>
              </a:rPr>
              <a:t>When the primary comes back online, it is promoted back.</a:t>
            </a:r>
            <a:endParaRPr lang="en-GB" sz="1800" dirty="0">
              <a:latin typeface="Times New Roman"/>
            </a:endParaRPr>
          </a:p>
          <a:p>
            <a:pPr marL="457200" lvl="1" indent="0">
              <a:buNone/>
            </a:pPr>
            <a:endParaRPr lang="en-GB" sz="1500" b="1"/>
          </a:p>
          <a:p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11552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9F65A-3451-B834-3B75-13E3E5001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Fault Tolerance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54AD9-F0CE-B9E9-2BE6-CEFFCDA88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/>
            <a:r>
              <a:rPr lang="en-GB" b="1" dirty="0">
                <a:latin typeface="Times New Roman"/>
                <a:cs typeface="Times New Roman"/>
              </a:rPr>
              <a:t>Failure Detection</a:t>
            </a:r>
            <a:endParaRPr lang="en-GB" dirty="0">
              <a:latin typeface="Times New Roman"/>
              <a:cs typeface="Times New Roman"/>
            </a:endParaRP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GB" sz="1800" dirty="0">
                <a:latin typeface="Times New Roman"/>
                <a:cs typeface="Times New Roman"/>
              </a:rPr>
              <a:t>Servers perform health checks and heartbeat monitoring.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GB" sz="1800" dirty="0">
                <a:latin typeface="Times New Roman"/>
                <a:cs typeface="Times New Roman"/>
              </a:rPr>
              <a:t>If a server is unresponsive, failover is triggered.</a:t>
            </a:r>
          </a:p>
          <a:p>
            <a:pPr marL="914400" lvl="2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en-GB" b="1" dirty="0">
                <a:latin typeface="Times New Roman"/>
                <a:cs typeface="Times New Roman"/>
              </a:rPr>
              <a:t>Log Recovery</a:t>
            </a:r>
            <a:endParaRPr lang="en-GB" dirty="0">
              <a:latin typeface="Times New Roman"/>
              <a:cs typeface="Times New Roman"/>
            </a:endParaRP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GB" sz="1800" dirty="0">
                <a:latin typeface="Times New Roman"/>
                <a:cs typeface="Times New Roman"/>
              </a:rPr>
              <a:t>When a failed server comes back online, it syncs missing logs from active servers.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GB" sz="1800" dirty="0">
                <a:latin typeface="Times New Roman"/>
                <a:cs typeface="Times New Roman"/>
              </a:rPr>
              <a:t>Ensures consistency across all nodes.</a:t>
            </a:r>
          </a:p>
          <a:p>
            <a:pPr marL="914400" lvl="2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pPr>
              <a:buFont typeface="Wingdings,Sans-Serif" panose="020B0604020202020204" pitchFamily="34" charset="0"/>
              <a:buChar char="§"/>
            </a:pPr>
            <a:r>
              <a:rPr lang="en-GB" sz="2400" b="1" dirty="0">
                <a:latin typeface="Times New Roman"/>
                <a:cs typeface="Times New Roman"/>
              </a:rPr>
              <a:t>Performance &amp; Storage Impact</a:t>
            </a:r>
            <a:endParaRPr lang="en-GB" sz="2400">
              <a:latin typeface="Times New Roman"/>
              <a:cs typeface="Times New Roman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en-GB" sz="1800" dirty="0">
                <a:latin typeface="Times New Roman"/>
                <a:cs typeface="Times New Roman"/>
              </a:rPr>
              <a:t>Extra storage used due to multiple log copies.</a:t>
            </a: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en-GB" sz="1800" dirty="0">
                <a:latin typeface="Times New Roman"/>
                <a:cs typeface="Times New Roman"/>
              </a:rPr>
              <a:t>Slight delay in replication (asynchronous), but system stays responsive.</a:t>
            </a:r>
          </a:p>
        </p:txBody>
      </p:sp>
    </p:spTree>
    <p:extLst>
      <p:ext uri="{BB962C8B-B14F-4D97-AF65-F5344CB8AC3E}">
        <p14:creationId xmlns:p14="http://schemas.microsoft.com/office/powerpoint/2010/main" val="173642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E5178-3E2E-280C-C68B-1D95599D1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Fault Tolerance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D6DE3-A2F8-E170-DE0A-41943F76E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/>
                <a:cs typeface="Times New Roman"/>
              </a:rPr>
              <a:t> </a:t>
            </a:r>
            <a:r>
              <a:rPr lang="en-GB" sz="2400" b="1" dirty="0">
                <a:latin typeface="Times New Roman"/>
                <a:cs typeface="Times New Roman"/>
              </a:rPr>
              <a:t>Demonstration Plan</a:t>
            </a:r>
            <a:endParaRPr lang="en-GB" sz="2400" dirty="0">
              <a:latin typeface="Times New Roman"/>
              <a:cs typeface="Times New Roman"/>
            </a:endParaRPr>
          </a:p>
          <a:p>
            <a:r>
              <a:rPr lang="en-GB" sz="1800" dirty="0">
                <a:latin typeface="Times New Roman"/>
                <a:cs typeface="Times New Roman"/>
              </a:rPr>
              <a:t> Scenario 1: Normal Operation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Times New Roman"/>
                <a:ea typeface="+mn-lt"/>
                <a:cs typeface="+mn-lt"/>
              </a:rPr>
              <a:t>Show logs being written to the primary and replicated to standby.</a:t>
            </a:r>
            <a:endParaRPr lang="en-GB" sz="18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r>
              <a:rPr lang="en-GB" sz="1800" dirty="0">
                <a:latin typeface="Times New Roman"/>
                <a:cs typeface="Times New Roman"/>
              </a:rPr>
              <a:t> Scenario 2: Primary Server Failure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Times New Roman"/>
                <a:ea typeface="+mn-lt"/>
                <a:cs typeface="+mn-lt"/>
              </a:rPr>
              <a:t>Stop the primary server.</a:t>
            </a:r>
            <a:endParaRPr lang="en-GB" sz="18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Times New Roman"/>
                <a:ea typeface="+mn-lt"/>
                <a:cs typeface="+mn-lt"/>
              </a:rPr>
              <a:t>Show system automatically promoting standby to primary.</a:t>
            </a:r>
            <a:endParaRPr lang="en-GB" sz="18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Times New Roman"/>
                <a:ea typeface="+mn-lt"/>
                <a:cs typeface="+mn-lt"/>
              </a:rPr>
              <a:t>Continue logging from the new primary.</a:t>
            </a:r>
            <a:endParaRPr lang="en-GB" sz="18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r>
              <a:rPr lang="en-GB" sz="1800" dirty="0">
                <a:latin typeface="Times New Roman"/>
                <a:cs typeface="Times New Roman"/>
              </a:rPr>
              <a:t> Scenario 3: Recovery of Failed Server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Times New Roman"/>
                <a:ea typeface="+mn-lt"/>
                <a:cs typeface="+mn-lt"/>
              </a:rPr>
              <a:t>Restart the original primary.</a:t>
            </a:r>
            <a:endParaRPr lang="en-GB" sz="18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Times New Roman"/>
                <a:ea typeface="+mn-lt"/>
                <a:cs typeface="+mn-lt"/>
              </a:rPr>
              <a:t>Show it syncing missing logs and returning to standby.</a:t>
            </a:r>
            <a:endParaRPr lang="en-GB" sz="18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Times New Roman"/>
                <a:ea typeface="+mn-lt"/>
                <a:cs typeface="+mn-lt"/>
              </a:rPr>
              <a:t>Confirm failover is reversed and original primary is restored.</a:t>
            </a:r>
            <a:endParaRPr lang="en-GB" sz="1800" dirty="0">
              <a:latin typeface="Times New Roman"/>
            </a:endParaRPr>
          </a:p>
          <a:p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346961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A20FF-C28E-5172-8A73-C7A8C69B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7B41D94F-F4A4-E299-F782-936BC5975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B24559A-1102-4E92-AD42-D76CA668E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45B9C-4B7B-04BF-C994-B4774000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Data Replication and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4DC5-E63F-4597-AA19-AADB959BF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190750"/>
            <a:ext cx="4646905" cy="416559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GB" sz="2400" b="1" dirty="0">
                <a:latin typeface="Times New Roman"/>
                <a:cs typeface="Times New Roman"/>
              </a:rPr>
              <a:t>Replication Strategy: Primary-Backup</a:t>
            </a:r>
            <a:endParaRPr lang="en-GB" sz="1800">
              <a:latin typeface="Times New Roman"/>
              <a:cs typeface="Times New Roman"/>
            </a:endParaRPr>
          </a:p>
          <a:p>
            <a:r>
              <a:rPr lang="en-GB" sz="1800" b="1" dirty="0">
                <a:latin typeface="Times New Roman"/>
                <a:ea typeface="+mn-lt"/>
                <a:cs typeface="+mn-lt"/>
              </a:rPr>
              <a:t>Process</a:t>
            </a:r>
            <a:r>
              <a:rPr lang="en-GB" sz="1800" dirty="0">
                <a:latin typeface="Times New Roman"/>
                <a:ea typeface="+mn-lt"/>
                <a:cs typeface="+mn-lt"/>
              </a:rPr>
              <a:t>: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Primary server commits data locally.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Then replicates data to two backup servers.</a:t>
            </a:r>
          </a:p>
          <a:p>
            <a:r>
              <a:rPr lang="en-GB" sz="1800" b="1" dirty="0">
                <a:latin typeface="Times New Roman"/>
                <a:ea typeface="+mn-lt"/>
                <a:cs typeface="+mn-lt"/>
              </a:rPr>
              <a:t>Pros</a:t>
            </a:r>
            <a:r>
              <a:rPr lang="en-GB" sz="1800" dirty="0">
                <a:latin typeface="Times New Roman"/>
                <a:ea typeface="+mn-lt"/>
                <a:cs typeface="+mn-lt"/>
              </a:rPr>
              <a:t>: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Simple to implement.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Increases durability by storing data in </a:t>
            </a:r>
            <a:r>
              <a:rPr lang="en-GB" sz="1800">
                <a:latin typeface="Times New Roman"/>
                <a:ea typeface="+mn-lt"/>
                <a:cs typeface="+mn-lt"/>
              </a:rPr>
              <a:t>multiple locations</a:t>
            </a:r>
            <a:r>
              <a:rPr lang="en-GB" sz="1800" dirty="0">
                <a:latin typeface="Times New Roman"/>
                <a:ea typeface="+mn-lt"/>
                <a:cs typeface="+mn-lt"/>
              </a:rPr>
              <a:t>.</a:t>
            </a:r>
          </a:p>
          <a:p>
            <a:r>
              <a:rPr lang="en-GB" sz="1800" b="1" dirty="0">
                <a:latin typeface="Times New Roman"/>
                <a:ea typeface="+mn-lt"/>
                <a:cs typeface="+mn-lt"/>
              </a:rPr>
              <a:t>Trade-offs</a:t>
            </a:r>
            <a:r>
              <a:rPr lang="en-GB" sz="1800" dirty="0">
                <a:latin typeface="Times New Roman"/>
                <a:ea typeface="+mn-lt"/>
                <a:cs typeface="+mn-lt"/>
              </a:rPr>
              <a:t>: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Requires more storage on all servers.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Risk of inconsistency if primary fails before replication.</a:t>
            </a:r>
            <a:endParaRPr lang="en-GB" sz="1800">
              <a:latin typeface="Times New Roman"/>
              <a:cs typeface="Times New Roman"/>
            </a:endParaRPr>
          </a:p>
          <a:p>
            <a:endParaRPr lang="en-GB" sz="1700" b="1"/>
          </a:p>
          <a:p>
            <a:endParaRPr lang="en-GB" sz="1700"/>
          </a:p>
        </p:txBody>
      </p:sp>
      <p:pic>
        <p:nvPicPr>
          <p:cNvPr id="16" name="Picture 15" descr="A 3D pattern of ring shapes connected by lines">
            <a:extLst>
              <a:ext uri="{FF2B5EF4-FFF2-40B4-BE49-F238E27FC236}">
                <a16:creationId xmlns:a16="http://schemas.microsoft.com/office/drawing/2014/main" id="{4A918F45-2507-6676-B076-1A113F4265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6" r="42387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3D086-284C-FD4A-8D9C-A4AB1ED7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40483-45AB-AA9C-584F-BD52AB37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Data Replication and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9CEAD-2DF0-4DFB-7CDF-073028772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981200"/>
            <a:ext cx="4646905" cy="4375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b="1" dirty="0">
                <a:latin typeface="Times New Roman"/>
                <a:cs typeface="Times New Roman"/>
              </a:rPr>
              <a:t>Consistency Model: Eventual Consistency</a:t>
            </a:r>
            <a:endParaRPr lang="en-GB" sz="2400" dirty="0">
              <a:latin typeface="Times New Roman"/>
              <a:cs typeface="Times New Roman"/>
            </a:endParaRPr>
          </a:p>
          <a:p>
            <a:r>
              <a:rPr lang="en-GB" sz="1800" b="1" dirty="0">
                <a:latin typeface="Times New Roman"/>
                <a:ea typeface="+mn-lt"/>
                <a:cs typeface="+mn-lt"/>
              </a:rPr>
              <a:t>Mechanism</a:t>
            </a:r>
            <a:r>
              <a:rPr lang="en-GB" sz="1800" dirty="0">
                <a:latin typeface="Times New Roman"/>
                <a:ea typeface="+mn-lt"/>
                <a:cs typeface="+mn-lt"/>
              </a:rPr>
              <a:t>: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Data is replicated asynchronously after being committed to the primary server.</a:t>
            </a:r>
          </a:p>
          <a:p>
            <a:r>
              <a:rPr lang="en-GB" sz="1800" b="1" dirty="0">
                <a:latin typeface="Times New Roman"/>
                <a:ea typeface="+mn-lt"/>
                <a:cs typeface="+mn-lt"/>
              </a:rPr>
              <a:t>Pros</a:t>
            </a:r>
            <a:r>
              <a:rPr lang="en-GB" sz="1800" dirty="0">
                <a:latin typeface="Times New Roman"/>
                <a:ea typeface="+mn-lt"/>
                <a:cs typeface="+mn-lt"/>
              </a:rPr>
              <a:t>: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High availability.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Non-blocking operations.</a:t>
            </a:r>
          </a:p>
          <a:p>
            <a:r>
              <a:rPr lang="en-GB" sz="1800" b="1" dirty="0">
                <a:latin typeface="Times New Roman"/>
                <a:ea typeface="+mn-lt"/>
                <a:cs typeface="+mn-lt"/>
              </a:rPr>
              <a:t>Trade-offs</a:t>
            </a:r>
            <a:r>
              <a:rPr lang="en-GB" sz="1800" dirty="0">
                <a:latin typeface="Times New Roman"/>
                <a:ea typeface="+mn-lt"/>
                <a:cs typeface="+mn-lt"/>
              </a:rPr>
              <a:t>:</a:t>
            </a:r>
          </a:p>
          <a:p>
            <a:pPr lvl="1"/>
            <a:r>
              <a:rPr lang="en-GB" sz="1800" dirty="0">
                <a:latin typeface="Times New Roman"/>
                <a:ea typeface="+mn-lt"/>
                <a:cs typeface="+mn-lt"/>
              </a:rPr>
              <a:t>Some logs might not replicate in rare failure cases.</a:t>
            </a:r>
          </a:p>
          <a:p>
            <a:endParaRPr lang="en-GB" sz="1700" b="1"/>
          </a:p>
          <a:p>
            <a:endParaRPr lang="en-GB" sz="1700"/>
          </a:p>
        </p:txBody>
      </p:sp>
      <p:pic>
        <p:nvPicPr>
          <p:cNvPr id="16" name="Picture 15" descr="A 3D pattern of ring shapes connected by lines">
            <a:extLst>
              <a:ext uri="{FF2B5EF4-FFF2-40B4-BE49-F238E27FC236}">
                <a16:creationId xmlns:a16="http://schemas.microsoft.com/office/drawing/2014/main" id="{BEA7CFA4-40B3-E16C-7AA5-F7123C5F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6" r="42387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6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834AD-043C-0C77-94BE-B57CBBFC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Data Replication and Consistency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0D82-C4AA-A31B-5F94-F570735F5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b="1"/>
              <a:t>Deduplication Mechanism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Uses a </a:t>
            </a:r>
            <a:r>
              <a:rPr lang="en-GB" sz="2000" b="1">
                <a:ea typeface="+mn-lt"/>
                <a:cs typeface="+mn-lt"/>
              </a:rPr>
              <a:t>unique identifier (UUID or hash)</a:t>
            </a:r>
            <a:r>
              <a:rPr lang="en-GB" sz="2000">
                <a:ea typeface="+mn-lt"/>
                <a:cs typeface="+mn-lt"/>
              </a:rPr>
              <a:t> for each log.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Before storing a log, the server checks for existing identical entries.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Duplicate logs are </a:t>
            </a:r>
            <a:r>
              <a:rPr lang="en-GB" sz="2000" b="1">
                <a:ea typeface="+mn-lt"/>
                <a:cs typeface="+mn-lt"/>
              </a:rPr>
              <a:t>discarded</a:t>
            </a:r>
            <a:r>
              <a:rPr lang="en-GB" sz="2000">
                <a:ea typeface="+mn-lt"/>
                <a:cs typeface="+mn-lt"/>
              </a:rPr>
              <a:t> to avoid redundancy.</a:t>
            </a:r>
            <a:endParaRPr lang="en-GB" sz="2000"/>
          </a:p>
          <a:p>
            <a:endParaRPr lang="en-GB" sz="2000"/>
          </a:p>
        </p:txBody>
      </p:sp>
      <p:pic>
        <p:nvPicPr>
          <p:cNvPr id="16" name="Picture 15" descr="A 3D pattern of ring shapes connected by lines">
            <a:extLst>
              <a:ext uri="{FF2B5EF4-FFF2-40B4-BE49-F238E27FC236}">
                <a16:creationId xmlns:a16="http://schemas.microsoft.com/office/drawing/2014/main" id="{37375198-FF4B-41D5-28F9-3D849D3C5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6" r="42387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78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8E58-1748-9D00-900B-96C5BDAD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en-GB"/>
              <a:t>Time Synchronization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F7AB9-103A-4C23-4B42-0C303500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57262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8ADED-F246-783A-B93E-BFE69A88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Time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C0014-3BA2-36AF-E4DC-22FF94A79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1750" y="1412489"/>
            <a:ext cx="3523323" cy="5074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000" b="1">
                <a:latin typeface="Times New Roman"/>
                <a:cs typeface="Times New Roman"/>
              </a:rPr>
              <a:t>Purpose:</a:t>
            </a:r>
            <a:r>
              <a:rPr lang="en-US" sz="2000">
                <a:latin typeface="Times New Roman"/>
                <a:cs typeface="Times New Roman"/>
              </a:rPr>
              <a:t> Ensure accurate, consistent timestamps across distributed nodes for event tracing, debugging, and monitoring.</a:t>
            </a:r>
          </a:p>
          <a:p>
            <a:pPr marL="0"/>
            <a:endParaRPr lang="en-US" sz="2000">
              <a:latin typeface="Times New Roman"/>
              <a:cs typeface="Times New Roman"/>
            </a:endParaRPr>
          </a:p>
          <a:p>
            <a:pPr marL="0"/>
            <a:r>
              <a:rPr lang="en-US" sz="2000" b="1">
                <a:latin typeface="Times New Roman"/>
                <a:cs typeface="Times New Roman"/>
              </a:rPr>
              <a:t>Challenges: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Clock drift across nodes</a:t>
            </a:r>
          </a:p>
          <a:p>
            <a:r>
              <a:rPr lang="en-US" sz="2000">
                <a:latin typeface="Times New Roman"/>
                <a:cs typeface="Times New Roman"/>
              </a:rPr>
              <a:t>Network delays and jitter</a:t>
            </a:r>
          </a:p>
          <a:p>
            <a:r>
              <a:rPr lang="en-US" sz="2000">
                <a:latin typeface="Times New Roman"/>
                <a:cs typeface="Times New Roman"/>
              </a:rPr>
              <a:t>Processing time variations</a:t>
            </a:r>
          </a:p>
          <a:p>
            <a:pPr marL="0"/>
            <a:endParaRPr lang="en-US" sz="1700" b="1"/>
          </a:p>
          <a:p>
            <a:endParaRPr lang="en-US" sz="1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2D07-1C40-C828-0E50-B5ECA733595A}"/>
              </a:ext>
            </a:extLst>
          </p:cNvPr>
          <p:cNvSpPr txBox="1"/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/>
                <a:cs typeface="Times New Roman"/>
              </a:rPr>
              <a:t>Solution Strategy:</a:t>
            </a:r>
            <a:r>
              <a:rPr lang="en-US" sz="2000">
                <a:latin typeface="Times New Roman"/>
                <a:cs typeface="Times New Roman"/>
              </a:rPr>
              <a:t>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NTP-based time sync​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Clock skew detection &amp; correction​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Buffered log reordering​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/>
                <a:cs typeface="Times New Roman"/>
              </a:rPr>
              <a:t>NTP Benefits:</a:t>
            </a:r>
            <a:r>
              <a:rPr lang="en-US" sz="2000">
                <a:latin typeface="Times New Roman"/>
                <a:cs typeface="Times New Roman"/>
              </a:rPr>
              <a:t>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Broad support, decades of reliability​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Millisecond-level accuracy​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Lightweight (low CPU/bandwidth usage)</a:t>
            </a:r>
          </a:p>
        </p:txBody>
      </p:sp>
    </p:spTree>
    <p:extLst>
      <p:ext uri="{BB962C8B-B14F-4D97-AF65-F5344CB8AC3E}">
        <p14:creationId xmlns:p14="http://schemas.microsoft.com/office/powerpoint/2010/main" val="69613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146FE-A5C0-E903-DAA7-25CC3C3B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2771B-3894-BC70-3870-855D3691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>
                <a:ea typeface="+mj-lt"/>
                <a:cs typeface="+mj-lt"/>
              </a:rPr>
              <a:t>Clock Skew &amp; Log Reordering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8FA9-1D1D-74AE-70D3-FDD871A9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526957"/>
            <a:ext cx="4821959" cy="382939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n-GB" sz="1600" b="1">
                <a:latin typeface="Times New Roman"/>
                <a:ea typeface="+mn-lt"/>
                <a:cs typeface="+mn-lt"/>
              </a:rPr>
              <a:t>Clock Skew Issues:</a:t>
            </a:r>
            <a:endParaRPr lang="en-US" sz="1600">
              <a:latin typeface="Times New Roman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+mn-lt"/>
              </a:rPr>
              <a:t>Out-of-order logs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+mn-lt"/>
              </a:rPr>
              <a:t>Misleading diagnostics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+mn-lt"/>
              </a:rPr>
              <a:t>Temporal inconsistency in data</a:t>
            </a:r>
          </a:p>
          <a:p>
            <a:pPr marL="0" indent="0">
              <a:buNone/>
            </a:pPr>
            <a:endParaRPr lang="en-GB" sz="1600" b="1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600" b="1">
                <a:latin typeface="Times New Roman"/>
                <a:ea typeface="+mn-lt"/>
                <a:cs typeface="+mn-lt"/>
              </a:rPr>
              <a:t>Skew Mitigation:</a:t>
            </a:r>
            <a:endParaRPr lang="en-GB" sz="1600">
              <a:latin typeface="Times New Roman"/>
              <a:ea typeface="+mn-lt"/>
              <a:cs typeface="+mn-lt"/>
            </a:endParaRPr>
          </a:p>
          <a:p>
            <a:pPr>
              <a:buFont typeface="Arial"/>
            </a:pPr>
            <a:r>
              <a:rPr lang="en-GB" sz="1600">
                <a:latin typeface="Times New Roman"/>
                <a:ea typeface="+mn-lt"/>
                <a:cs typeface="+mn-lt"/>
              </a:rPr>
              <a:t>Track both </a:t>
            </a:r>
            <a:r>
              <a:rPr lang="en-GB" sz="1600" b="1">
                <a:latin typeface="Times New Roman"/>
                <a:ea typeface="+mn-lt"/>
                <a:cs typeface="+mn-lt"/>
              </a:rPr>
              <a:t>system time</a:t>
            </a:r>
            <a:r>
              <a:rPr lang="en-GB" sz="1600">
                <a:latin typeface="Times New Roman"/>
                <a:ea typeface="+mn-lt"/>
                <a:cs typeface="+mn-lt"/>
              </a:rPr>
              <a:t> and </a:t>
            </a:r>
            <a:r>
              <a:rPr lang="en-GB" sz="1600" b="1">
                <a:latin typeface="Times New Roman"/>
                <a:ea typeface="+mn-lt"/>
                <a:cs typeface="+mn-lt"/>
              </a:rPr>
              <a:t>NTP time</a:t>
            </a:r>
          </a:p>
          <a:p>
            <a:pPr>
              <a:buFont typeface="Arial"/>
            </a:pPr>
            <a:r>
              <a:rPr lang="en-GB" sz="1600">
                <a:latin typeface="Times New Roman"/>
                <a:ea typeface="+mn-lt"/>
                <a:cs typeface="+mn-lt"/>
              </a:rPr>
              <a:t>Apply </a:t>
            </a:r>
            <a:r>
              <a:rPr lang="en-GB" sz="1600" b="1">
                <a:latin typeface="Times New Roman"/>
                <a:ea typeface="+mn-lt"/>
                <a:cs typeface="+mn-lt"/>
              </a:rPr>
              <a:t>timestamp correction</a:t>
            </a:r>
            <a:r>
              <a:rPr lang="en-GB" sz="1600">
                <a:latin typeface="Times New Roman"/>
                <a:ea typeface="+mn-lt"/>
                <a:cs typeface="+mn-lt"/>
              </a:rPr>
              <a:t> using offset: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</a:pPr>
            <a:r>
              <a:rPr lang="en-GB" sz="1600">
                <a:latin typeface="Times New Roman"/>
                <a:ea typeface="+mn-lt"/>
                <a:cs typeface="+mn-lt"/>
              </a:rPr>
              <a:t>Example: If clock is 15ms behind → </a:t>
            </a:r>
            <a:r>
              <a:rPr lang="en-GB" sz="1600" err="1">
                <a:latin typeface="Times New Roman"/>
                <a:ea typeface="+mn-lt"/>
                <a:cs typeface="+mn-lt"/>
              </a:rPr>
              <a:t>log.timestamp</a:t>
            </a:r>
            <a:r>
              <a:rPr lang="en-GB" sz="1600">
                <a:latin typeface="Times New Roman"/>
                <a:ea typeface="+mn-lt"/>
                <a:cs typeface="+mn-lt"/>
              </a:rPr>
              <a:t> += 0.015s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endParaRPr lang="en-GB" sz="1600">
              <a:latin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>
                <a:latin typeface="Times New Roman"/>
                <a:cs typeface="Times New Roman"/>
              </a:rPr>
              <a:t>Log Reordering Mechanism: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en-GB" sz="1600">
                <a:latin typeface="Times New Roman"/>
                <a:cs typeface="Times New Roman"/>
              </a:rPr>
              <a:t>Logs buffered in a </a:t>
            </a:r>
            <a:r>
              <a:rPr lang="en-GB" sz="1600" b="1">
                <a:latin typeface="Times New Roman"/>
                <a:cs typeface="Times New Roman"/>
              </a:rPr>
              <a:t>priority queue (</a:t>
            </a:r>
            <a:r>
              <a:rPr lang="en-GB" sz="1600" b="1" err="1">
                <a:latin typeface="Times New Roman"/>
                <a:cs typeface="Times New Roman"/>
              </a:rPr>
              <a:t>heapq</a:t>
            </a:r>
            <a:r>
              <a:rPr lang="en-GB" sz="1600" b="1">
                <a:latin typeface="Times New Roman"/>
                <a:cs typeface="Times New Roman"/>
              </a:rPr>
              <a:t>)</a:t>
            </a:r>
            <a:endParaRPr lang="en-GB" sz="1600">
              <a:latin typeface="Times New Roman"/>
              <a:cs typeface="Times New Roman"/>
            </a:endParaRP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en-GB" sz="1600" b="1">
                <a:latin typeface="Times New Roman"/>
                <a:cs typeface="Times New Roman"/>
              </a:rPr>
              <a:t>1-second delay</a:t>
            </a:r>
            <a:r>
              <a:rPr lang="en-GB" sz="1600">
                <a:latin typeface="Times New Roman"/>
                <a:cs typeface="Times New Roman"/>
              </a:rPr>
              <a:t> allows late logs to arrive</a:t>
            </a: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en-GB" sz="1600">
                <a:latin typeface="Times New Roman"/>
                <a:cs typeface="Times New Roman"/>
              </a:rPr>
              <a:t>Logs flushed in correct order after delay</a:t>
            </a:r>
          </a:p>
          <a:p>
            <a:pPr marL="0" indent="0">
              <a:buNone/>
            </a:pPr>
            <a:endParaRPr lang="en-GB" sz="1100" b="1"/>
          </a:p>
          <a:p>
            <a:endParaRPr lang="en-GB" sz="1100"/>
          </a:p>
        </p:txBody>
      </p:sp>
      <p:pic>
        <p:nvPicPr>
          <p:cNvPr id="5" name="Picture 4" descr="Different types of clocks">
            <a:extLst>
              <a:ext uri="{FF2B5EF4-FFF2-40B4-BE49-F238E27FC236}">
                <a16:creationId xmlns:a16="http://schemas.microsoft.com/office/drawing/2014/main" id="{1961F923-D8CA-006A-70AA-21425F9BB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60" r="34641" b="1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2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7C098-239B-4C5B-98F1-BA407235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D84C8F4-8226-4270-E854-542ED21D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Performance Trade-offs &amp; Final Considerations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40039F-C7AC-6E57-385D-72B9DE6C77EF}"/>
              </a:ext>
            </a:extLst>
          </p:cNvPr>
          <p:cNvSpPr txBox="1"/>
          <p:nvPr/>
        </p:nvSpPr>
        <p:spPr>
          <a:xfrm>
            <a:off x="4654296" y="4671577"/>
            <a:ext cx="6894576" cy="14284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500" b="1" dirty="0"/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/>
                <a:cs typeface="Times New Roman"/>
              </a:rPr>
              <a:t>Sync Interval</a:t>
            </a:r>
            <a:r>
              <a:rPr lang="en-US" sz="1500" dirty="0">
                <a:latin typeface="Times New Roman"/>
                <a:cs typeface="Times New Roman"/>
              </a:rPr>
              <a:t>: Every 5 minutes balances accuracy with load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/>
                <a:cs typeface="Times New Roman"/>
              </a:rPr>
              <a:t>Flush Delay</a:t>
            </a:r>
            <a:r>
              <a:rPr lang="en-US" sz="1500" dirty="0">
                <a:latin typeface="Times New Roman"/>
                <a:cs typeface="Times New Roman"/>
              </a:rPr>
              <a:t>: 1 second captures most out-of-order logs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/>
                <a:cs typeface="Times New Roman"/>
              </a:rPr>
              <a:t>Scalability</a:t>
            </a:r>
            <a:r>
              <a:rPr lang="en-US" sz="1500" dirty="0">
                <a:latin typeface="Times New Roman"/>
                <a:cs typeface="Times New Roman"/>
              </a:rPr>
              <a:t>: Async queue and buffering support large-scale ingestion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A14BAC9-54C5-705A-FA4E-3F788CAC4C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447004"/>
              </p:ext>
            </p:extLst>
          </p:nvPr>
        </p:nvGraphicFramePr>
        <p:xfrm>
          <a:off x="4654296" y="926146"/>
          <a:ext cx="6894578" cy="332321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100983">
                  <a:extLst>
                    <a:ext uri="{9D8B030D-6E8A-4147-A177-3AD203B41FA5}">
                      <a16:colId xmlns:a16="http://schemas.microsoft.com/office/drawing/2014/main" val="782202787"/>
                    </a:ext>
                  </a:extLst>
                </a:gridCol>
                <a:gridCol w="2203875">
                  <a:extLst>
                    <a:ext uri="{9D8B030D-6E8A-4147-A177-3AD203B41FA5}">
                      <a16:colId xmlns:a16="http://schemas.microsoft.com/office/drawing/2014/main" val="488318511"/>
                    </a:ext>
                  </a:extLst>
                </a:gridCol>
                <a:gridCol w="2589720">
                  <a:extLst>
                    <a:ext uri="{9D8B030D-6E8A-4147-A177-3AD203B41FA5}">
                      <a16:colId xmlns:a16="http://schemas.microsoft.com/office/drawing/2014/main" val="895497352"/>
                    </a:ext>
                  </a:extLst>
                </a:gridCol>
              </a:tblGrid>
              <a:tr h="622447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Advantage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Trade-off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667852"/>
                  </a:ext>
                </a:extLst>
              </a:tr>
              <a:tr h="900256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Frequent NTP Sync</a:t>
                      </a:r>
                      <a:endParaRPr lang="en-US" sz="1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Accurate clocks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Slight CPU/network usage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220903"/>
                  </a:ext>
                </a:extLst>
              </a:tr>
              <a:tr h="900256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Buffered Reordering</a:t>
                      </a:r>
                      <a:endParaRPr lang="en-US" sz="1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Proper ordering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~1s processing delay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761877"/>
                  </a:ext>
                </a:extLst>
              </a:tr>
              <a:tr h="900256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Timestamp Correction</a:t>
                      </a:r>
                      <a:endParaRPr lang="en-US" sz="1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Better sync in skew scenarios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Offset may be imperfect</a:t>
                      </a:r>
                    </a:p>
                  </a:txBody>
                  <a:tcPr marL="295765" marR="153798" marT="153798" marB="1537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798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222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C1B3C-9F24-6A30-2E22-A952B81B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E9182-B999-69EE-D39A-2B93C6EB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Consensus and Agreement Algorithms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83D3-713D-6AC9-FBED-DEE33B136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 fontScale="92500" lnSpcReduction="20000"/>
          </a:bodyPr>
          <a:lstStyle/>
          <a:p>
            <a:r>
              <a:rPr lang="en-GB" sz="2000">
                <a:ea typeface="+mn-lt"/>
                <a:cs typeface="+mn-lt"/>
              </a:rPr>
              <a:t>Reliable Logging via Raft Consensus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Core Method: Raft protocol using dynamic node roles</a:t>
            </a:r>
            <a:endParaRPr lang="en-GB"/>
          </a:p>
          <a:p>
            <a:endParaRPr lang="en-GB"/>
          </a:p>
          <a:p>
            <a:r>
              <a:rPr lang="en-GB" sz="2000">
                <a:ea typeface="+mn-lt"/>
                <a:cs typeface="+mn-lt"/>
              </a:rPr>
              <a:t>Leadership Process: Randomized timeouts + staggered delays to avoid election clashes</a:t>
            </a:r>
            <a:endParaRPr lang="en-GB"/>
          </a:p>
          <a:p>
            <a:endParaRPr lang="en-GB"/>
          </a:p>
          <a:p>
            <a:r>
              <a:rPr lang="en-GB" sz="2000">
                <a:ea typeface="+mn-lt"/>
                <a:cs typeface="+mn-lt"/>
              </a:rPr>
              <a:t>Log Handling: Leader writes only after majority of replicas confirm</a:t>
            </a:r>
            <a:endParaRPr lang="en-GB"/>
          </a:p>
          <a:p>
            <a:endParaRPr lang="en-GB"/>
          </a:p>
          <a:p>
            <a:r>
              <a:rPr lang="en-GB" sz="2000">
                <a:ea typeface="+mn-lt"/>
                <a:cs typeface="+mn-lt"/>
              </a:rPr>
              <a:t>Enhancements: Quick heartbeat checks + intentional jitter to stabilize transitions</a:t>
            </a:r>
            <a:endParaRPr lang="en-GB"/>
          </a:p>
          <a:p>
            <a:endParaRPr lang="en-GB"/>
          </a:p>
          <a:p>
            <a:r>
              <a:rPr lang="en-GB" sz="2000">
                <a:ea typeface="+mn-lt"/>
                <a:cs typeface="+mn-lt"/>
              </a:rPr>
              <a:t>Validation: Stress-tested under failure scenarios and heavy log activity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400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1C8097-AD6C-C7E0-C898-6B502FF88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Implementation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32D5E-30C9-9B8F-333C-2ACFA6EB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Technologies Used:</a:t>
            </a:r>
            <a:endParaRPr lang="en-GB" sz="1800" b="1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b="1" err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FastAPI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for creating RESTful APIs.</a:t>
            </a:r>
            <a:endParaRPr lang="en-GB" sz="15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b="1" err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SQLAlchemy</a:t>
            </a:r>
            <a:r>
              <a:rPr lang="en-GB" sz="15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+ SQLite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for database ORM and storage.</a:t>
            </a:r>
            <a:endParaRPr lang="en-GB" sz="15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Jinja2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for rendering HTML frontend.</a:t>
            </a:r>
            <a:endParaRPr lang="en-GB" sz="15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Requests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for replicating logs to backup servers.</a:t>
            </a:r>
            <a:endParaRPr lang="en-GB" sz="15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NTP client (</a:t>
            </a:r>
            <a:r>
              <a:rPr lang="en-GB" sz="1500" b="1" err="1">
                <a:solidFill>
                  <a:schemeClr val="tx2"/>
                </a:solidFill>
                <a:latin typeface="Times New Roman"/>
                <a:cs typeface="Times New Roman"/>
              </a:rPr>
              <a:t>ntplib</a:t>
            </a:r>
            <a:r>
              <a:rPr lang="en-GB" sz="15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for system time synchronization.</a:t>
            </a:r>
            <a:endParaRPr lang="en-GB" sz="15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br>
              <a:rPr lang="en-US" sz="1500" dirty="0"/>
            </a:br>
            <a:endParaRPr lang="en-US" sz="15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Key Components:</a:t>
            </a:r>
            <a:endParaRPr lang="en-GB" sz="18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dirty="0">
                <a:solidFill>
                  <a:schemeClr val="tx2"/>
                </a:solidFill>
                <a:latin typeface="Times New Roman"/>
                <a:cs typeface="Times New Roman"/>
              </a:rPr>
              <a:t>main.py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API logic, time sync, database interaction.</a:t>
            </a:r>
            <a:endParaRPr lang="en-GB" sz="15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dirty="0">
                <a:solidFill>
                  <a:schemeClr val="tx2"/>
                </a:solidFill>
                <a:latin typeface="Times New Roman"/>
                <a:cs typeface="Times New Roman"/>
              </a:rPr>
              <a:t>replication.py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replicates logs to backup servers.</a:t>
            </a:r>
            <a:endParaRPr lang="en-GB" sz="15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dirty="0">
                <a:solidFill>
                  <a:schemeClr val="tx2"/>
                </a:solidFill>
                <a:latin typeface="Times New Roman"/>
                <a:cs typeface="Times New Roman"/>
              </a:rPr>
              <a:t>ntp_sync.py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ensures accurate timestamps using NTP.</a:t>
            </a:r>
            <a:endParaRPr lang="en-GB" sz="15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500" dirty="0">
                <a:solidFill>
                  <a:schemeClr val="tx2"/>
                </a:solidFill>
                <a:latin typeface="Times New Roman"/>
                <a:cs typeface="Times New Roman"/>
              </a:rPr>
              <a:t>models.py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&amp; </a:t>
            </a:r>
            <a:r>
              <a:rPr lang="en-GB" sz="1500" dirty="0">
                <a:solidFill>
                  <a:schemeClr val="tx2"/>
                </a:solidFill>
                <a:latin typeface="Times New Roman"/>
                <a:cs typeface="Times New Roman"/>
              </a:rPr>
              <a:t>database.py</a:t>
            </a:r>
            <a:r>
              <a:rPr lang="en-GB" sz="15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– define DB schema and session.</a:t>
            </a:r>
            <a:endParaRPr lang="en-GB" sz="1500" dirty="0">
              <a:solidFill>
                <a:schemeClr val="tx2"/>
              </a:solidFill>
              <a:latin typeface="Times New Roman"/>
            </a:endParaRPr>
          </a:p>
          <a:p>
            <a:endParaRPr lang="en-GB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684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Fault-Tolerant Distributed Logging System</vt:lpstr>
      <vt:lpstr>Log collection and processing in distributed environments</vt:lpstr>
      <vt:lpstr>System Overview - Architecture</vt:lpstr>
      <vt:lpstr>Key System Requirements</vt:lpstr>
      <vt:lpstr>Fault Tolerance</vt:lpstr>
      <vt:lpstr>Fault Tolerance</vt:lpstr>
      <vt:lpstr>Fault Tolerance</vt:lpstr>
      <vt:lpstr>Data Replication and Consistency</vt:lpstr>
      <vt:lpstr>Data Replication and Consistency</vt:lpstr>
      <vt:lpstr>Data Replication and Consistency</vt:lpstr>
      <vt:lpstr>Time Synchronization</vt:lpstr>
      <vt:lpstr>Time Synchronization</vt:lpstr>
      <vt:lpstr>Clock Skew &amp; Log Reordering</vt:lpstr>
      <vt:lpstr>Performance Trade-offs &amp; Final Considerations</vt:lpstr>
      <vt:lpstr>Consensus and Agreement Algorithms</vt:lpstr>
      <vt:lpstr>Implementation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287</cp:revision>
  <dcterms:created xsi:type="dcterms:W3CDTF">2025-04-29T16:44:43Z</dcterms:created>
  <dcterms:modified xsi:type="dcterms:W3CDTF">2025-04-29T18:27:44Z</dcterms:modified>
</cp:coreProperties>
</file>